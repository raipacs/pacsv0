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c884f594704d55" /><Relationship Type="http://schemas.openxmlformats.org/officeDocument/2006/relationships/extended-properties" Target="/docProps/app.xml" Id="R3c22be655ffc42c3" /><Relationship Type="http://schemas.openxmlformats.org/officeDocument/2006/relationships/officeDocument" Target="/ppt/presentation.xml" Id="R1a2a67f5aec34d5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6551d2fea74074"/>
  </p:sldMasterIdLst>
  <p:notesMasterIdLst>
    <p:notesMasterId xmlns:r="http://schemas.openxmlformats.org/officeDocument/2006/relationships" r:id="Rc9f38df3d3814e50"/>
  </p:notesMasterIdLst>
  <p:sldIdLst>
    <p:sldId xmlns:r="http://schemas.openxmlformats.org/officeDocument/2006/relationships" id="256" r:id="R90ad23e9488e489a"/>
    <p:sldId xmlns:r="http://schemas.openxmlformats.org/officeDocument/2006/relationships" id="257" r:id="Rc34619a4fce947ec"/>
    <p:sldId xmlns:r="http://schemas.openxmlformats.org/officeDocument/2006/relationships" id="258" r:id="R2b81373594bd411f"/>
    <p:sldId xmlns:r="http://schemas.openxmlformats.org/officeDocument/2006/relationships" id="259" r:id="Rd4aab114f44240a2"/>
    <p:sldId xmlns:r="http://schemas.openxmlformats.org/officeDocument/2006/relationships" id="260" r:id="R1b3d032122cb472e"/>
    <p:sldId xmlns:r="http://schemas.openxmlformats.org/officeDocument/2006/relationships" id="261" r:id="R574971cea5de4ef0"/>
    <p:sldId xmlns:r="http://schemas.openxmlformats.org/officeDocument/2006/relationships" id="262" r:id="R7aa4242e152d4bd1"/>
    <p:sldId xmlns:r="http://schemas.openxmlformats.org/officeDocument/2006/relationships" id="263" r:id="R3b4d73b06ff54e8c"/>
    <p:sldId xmlns:r="http://schemas.openxmlformats.org/officeDocument/2006/relationships" id="264" r:id="Re78a6d032182414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86c7227ebd4e70" /><Relationship Type="http://schemas.openxmlformats.org/officeDocument/2006/relationships/slideMaster" Target="/ppt/slideMasters/slideMaster1.xml" Id="R3a6551d2fea74074" /><Relationship Type="http://schemas.openxmlformats.org/officeDocument/2006/relationships/notesMaster" Target="/ppt/notesMasters/notesMaster1.xml" Id="Rc9f38df3d3814e50" /><Relationship Type="http://schemas.openxmlformats.org/officeDocument/2006/relationships/presProps" Target="/ppt/presProps.xml" Id="R4c66bc70225d40cc" /><Relationship Type="http://schemas.openxmlformats.org/officeDocument/2006/relationships/tableStyles" Target="/ppt/tableStyles.xml" Id="Radb5b86fe48d4d5f" /><Relationship Type="http://schemas.openxmlformats.org/officeDocument/2006/relationships/slide" Target="/ppt/slides/slide1.xml" Id="R90ad23e9488e489a" /><Relationship Type="http://schemas.openxmlformats.org/officeDocument/2006/relationships/slide" Target="/ppt/slides/slide2.xml" Id="Rc34619a4fce947ec" /><Relationship Type="http://schemas.openxmlformats.org/officeDocument/2006/relationships/slide" Target="/ppt/slides/slide3.xml" Id="R2b81373594bd411f" /><Relationship Type="http://schemas.openxmlformats.org/officeDocument/2006/relationships/slide" Target="/ppt/slides/slide4.xml" Id="Rd4aab114f44240a2" /><Relationship Type="http://schemas.openxmlformats.org/officeDocument/2006/relationships/slide" Target="/ppt/slides/slide5.xml" Id="R1b3d032122cb472e" /><Relationship Type="http://schemas.openxmlformats.org/officeDocument/2006/relationships/slide" Target="/ppt/slides/slide6.xml" Id="R574971cea5de4ef0" /><Relationship Type="http://schemas.openxmlformats.org/officeDocument/2006/relationships/slide" Target="/ppt/slides/slide7.xml" Id="R7aa4242e152d4bd1" /><Relationship Type="http://schemas.openxmlformats.org/officeDocument/2006/relationships/slide" Target="/ppt/slides/slide8.xml" Id="R3b4d73b06ff54e8c" /><Relationship Type="http://schemas.openxmlformats.org/officeDocument/2006/relationships/slide" Target="/ppt/slides/slide9.xml" Id="Re78a6d032182414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2f9e3dcbc3040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19322925e714149" /><Relationship Type="http://schemas.openxmlformats.org/officeDocument/2006/relationships/notesMaster" Target="/ppt/notesMasters/notesMaster1.xml" Id="Rd7c26904150b4f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200c7ddf3f45f7" /><Relationship Type="http://schemas.openxmlformats.org/officeDocument/2006/relationships/notesMaster" Target="/ppt/notesMasters/notesMaster1.xml" Id="Ra1bcae3407804cd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eaae669f494a08" /><Relationship Type="http://schemas.openxmlformats.org/officeDocument/2006/relationships/notesMaster" Target="/ppt/notesMasters/notesMaster1.xml" Id="Rbcd38fa246514f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ff0910d8404e65" /><Relationship Type="http://schemas.openxmlformats.org/officeDocument/2006/relationships/notesMaster" Target="/ppt/notesMasters/notesMaster1.xml" Id="R63addd4167de4c1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ce7e4d0629476b" /><Relationship Type="http://schemas.openxmlformats.org/officeDocument/2006/relationships/notesMaster" Target="/ppt/notesMasters/notesMaster1.xml" Id="R2c4ef98d0f5d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7fa742592bb4ae4" /><Relationship Type="http://schemas.openxmlformats.org/officeDocument/2006/relationships/notesMaster" Target="/ppt/notesMasters/notesMaster1.xml" Id="R47b184caca044b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d4eeeefa8a147bf" /><Relationship Type="http://schemas.openxmlformats.org/officeDocument/2006/relationships/notesMaster" Target="/ppt/notesMasters/notesMaster1.xml" Id="R3df557ecdb704c3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b707171680749fe" /><Relationship Type="http://schemas.openxmlformats.org/officeDocument/2006/relationships/notesMaster" Target="/ppt/notesMasters/notesMaster1.xml" Id="R91cb3ac3760f4a3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04479eb6bc2411b" /><Relationship Type="http://schemas.openxmlformats.org/officeDocument/2006/relationships/notesMaster" Target="/ppt/notesMasters/notesMaster1.xml" Id="Rbb47168fe15a49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fabb8aa6743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8e2dfb09bf4db8" /><Relationship Type="http://schemas.openxmlformats.org/officeDocument/2006/relationships/slideLayout" Target="/ppt/slideLayouts/slideLayout1.xml" Id="R9da5f6ac81414e1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da5f6ac81414e1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bda753930d4ecd" /><Relationship Type="http://schemas.openxmlformats.org/officeDocument/2006/relationships/notesSlide" Target="/ppt/notesSlides/notesSlide1.xml" Id="R3d30f4b14ce24c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eae7d83af426a" /><Relationship Type="http://schemas.openxmlformats.org/officeDocument/2006/relationships/notesSlide" Target="/ppt/notesSlides/notesSlide2.xml" Id="R3d05bd86afd3432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007573e014ebc" /><Relationship Type="http://schemas.openxmlformats.org/officeDocument/2006/relationships/notesSlide" Target="/ppt/notesSlides/notesSlide3.xml" Id="R97a48352d7734ff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0dbe4904e742f0" /><Relationship Type="http://schemas.openxmlformats.org/officeDocument/2006/relationships/notesSlide" Target="/ppt/notesSlides/notesSlide4.xml" Id="R18f6d7e60ffc44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61a764e8247a4" /><Relationship Type="http://schemas.openxmlformats.org/officeDocument/2006/relationships/notesSlide" Target="/ppt/notesSlides/notesSlide5.xml" Id="R493a0e12bd4445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32585d14d74851" /><Relationship Type="http://schemas.openxmlformats.org/officeDocument/2006/relationships/notesSlide" Target="/ppt/notesSlides/notesSlide6.xml" Id="Rdd6c152e3cb8442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9853f3284e44cd" /><Relationship Type="http://schemas.openxmlformats.org/officeDocument/2006/relationships/notesSlide" Target="/ppt/notesSlides/notesSlide7.xml" Id="Rc662e5e4a10040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89ef503f24d01" /><Relationship Type="http://schemas.openxmlformats.org/officeDocument/2006/relationships/notesSlide" Target="/ppt/notesSlides/notesSlide8.xml" Id="R4d7400f7261f49d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8cf49e1f474c80" /><Relationship Type="http://schemas.openxmlformats.org/officeDocument/2006/relationships/notesSlide" Target="/ppt/notesSlides/notesSlide9.xml" Id="R19c62e5330a74f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291CF6-20DA-492C-8D75-1A88BFF74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20955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766E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Mimari karşılaştırma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B801B6-8DDF-4B7A-97AC-5D8251CA6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81915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RAI PACS ve Sectra One Cloud Storage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F14FBA-5AFB-47A3-8293-DEFF097C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CBD5E1"/>
                </a:solidFill>
              </a:defRPr>
            </a:pPr>
            <a:r>
              <a:rPr sz="1875" b="0">
                <a:solidFill>
                  <a:srgbClr val="CBD5E1"/>
                </a:solidFill>
              </a:rPr>
              <a:t>Hibrit DICOM alma, bulut arşivleme, viewer performansı ve kurumsal PACS olgunluğu için yol haritası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FDBA53-EA76-4CC2-B407-0B483570C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4A3B8"/>
                </a:solidFill>
              </a:defRPr>
            </a:pPr>
            <a:r>
              <a:rPr sz="1350" b="0">
                <a:solidFill>
                  <a:srgbClr val="94A3B8"/>
                </a:solidFill>
              </a:rPr>
              <a:t>23 Haziran 2026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652A5A-B128-4239-9A61-074137A0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952500"/>
            <a:ext cx="4953000" cy="495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33B"/>
          </a:solidFill>
          <a:ln xmlns:a="http://schemas.openxmlformats.org/drawingml/2006/main" w="0">
            <a:solidFill>
              <a:srgbClr val="10233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8DF023-AF94-4DA6-85F4-6D1DCB100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1450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ADC1D-F184-4D05-8376-446AF3B87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2266950"/>
            <a:ext cx="24765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DICOM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Storage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Viewer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AI</a:t>
            </a:r>
          </a:p>
        </p:txBody>
      </p:sp>
    </p:spTree>
    <p:extLst>
      <p:ext uri="{BB962C8B-B14F-4D97-AF65-F5344CB8AC3E}">
        <p14:creationId xmlns:p14="http://schemas.microsoft.com/office/powerpoint/2010/main" val="105462687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6E5F88-F177-4355-9F3D-EFA730E5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12AA5-28B0-4457-BE4D-7CBB5A54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Ana karar: RAI için hibrit PACS omurgası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9AD9E-C74F-425C-AE52-F93C327F2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1E0B0-7060-4169-98B0-E7EB5A2C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D75C8-BC0E-4EDA-B59E-225AB064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D4B1E9-D10C-4E9A-B8A7-07F039623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812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Sectra’dan alınacak ders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2481D7-F128-4B55-BE43-2051C1E7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2914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Klinikte kısa süreli yerel akış + bulutta uzun dönem arşiv, performans ve maliyet dengesini iyi kuruyor.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BB371E-FBD2-4AAA-AAE8-FEFB6CD99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A6D362-330C-4DF8-B37F-65A99214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EFF270-7057-4D21-84C4-06A75E1D4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9812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RAI’nin avantajı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DFFD27-945E-4D1E-9DC3-A075BF2ED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362200"/>
            <a:ext cx="2914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MVP çevikliği, Supabase Storage, Orthanc gateway ve modern web viewer ile hızlı ürünleşme var.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B3B6F4-4D5B-47D3-B515-28E0510E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3333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607DD3-9301-4FCD-AA29-398AF9E01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09750"/>
            <a:ext cx="762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B27962-2FF5-41A1-8D53-4C4F2325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981200"/>
            <a:ext cx="2914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Eksik halka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E9E263-B007-496C-8B99-BCAB0A14C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62200"/>
            <a:ext cx="29146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Arşiv yaşam döngüsü, iş kuyruğu, cihaz yönetimi, audit/DR ve DICOMweb olgunluğu ürünleştirilmeli.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17198B-E7B8-4E0A-9CE3-86DF0F86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Öneri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BF62A7-FCFB-461E-AA12-FB9BE29A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C5BB09-7731-4859-A551-55BDC31F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101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Supabase Storage şu an sıcak klinik depo gibi kalsın; arşiv katmanı ayrı tasarlansın.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77A175-A083-4A35-A6E6-DFD05AE6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549366-D792-43EB-90F0-0C7D35483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673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Orthanc gateway cihazlardan DICOM alma kapısı olsun; import kuyruğu ve gözlem paneliyle yönetilsin.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9D5BB1-B86A-4004-8202-783793E4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007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7BC59B-B45C-478D-B7B4-923A1EC8B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24550"/>
            <a:ext cx="10020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RAI Viewer klinik kullanımda ana deneyim, OHIF yeni sekme ise ileri/alternatif viewer olarak kalsın.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BECDFC-685F-4C2C-9282-70DFB4963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2</a:t>
            </a:r>
          </a:p>
        </p:txBody>
      </p:sp>
    </p:spTree>
    <p:extLst>
      <p:ext uri="{BB962C8B-B14F-4D97-AF65-F5344CB8AC3E}">
        <p14:creationId xmlns:p14="http://schemas.microsoft.com/office/powerpoint/2010/main" val="788465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971251-627A-4319-A611-F38532307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FC1241-C6D2-40F5-9BD2-1533E325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Sectra One Cloud Storage ne yapıyor?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FA050E-A5D3-4C91-9A71-DB1180C6A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2CB4C7-E2E4-4A4E-9D13-BCB50AFF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5240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62044-0670-4B2D-A091-B5270306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1295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Modaliteler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B23CB-A81C-4C88-9A45-92BD8A2C9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0002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FF2009-96E4-480B-B7FD-56CE9FD67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362200"/>
            <a:ext cx="17716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Yerel STS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kısa süreli depo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CD14E-C7C2-4E40-8831-27A15717C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9075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3269B-8967-4CD9-8C16-379C693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362200"/>
            <a:ext cx="1962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Sectra LTS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uzun dönem sunucu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0F7384-7768-4E77-BBCC-DC4813240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19075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331803-723C-4D1F-82AA-3B490EFE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62200"/>
            <a:ext cx="19621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Microsoft Azure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blob arşiv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68548-B731-4469-817C-41D8AF7D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432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FC7A3-DAAB-458E-8B19-381CCA00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43200"/>
            <a:ext cx="7620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B7056A-1A5A-40CF-8FCF-46B0EB11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743200"/>
            <a:ext cx="8572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2C2473-7A05-4EE6-B65F-4803BFFC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0"/>
            <a:ext cx="971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F172A"/>
                </a:solidFill>
              </a:defRPr>
            </a:pPr>
            <a:r>
              <a:rPr sz="1650" b="0">
                <a:solidFill>
                  <a:srgbClr val="0F172A"/>
                </a:solidFill>
              </a:rPr>
              <a:t>Kaynak sayfaya göre model hibrit: modaliteler yerel kısa süreli depoya gönderiyor, sonra uzun dönem depolama Azure’a arşivleniyor.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43FC7D-3589-4EAB-8E19-DCD49ACBA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33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B3924FA-688D-4E4D-9487-D3067AF2A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577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Bulut blob depolama, dinamik ölçekleme ve availability zone yedekliliği vurgulanıyor.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B828D8-F458-4414-903A-9A0875BD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34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34FB66-84AF-47E0-8A42-91715354F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5780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Servis, Azure yönetimi, geçiş ve veri migrasyonu sorumluluğunu üretici tarafına alıyor.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4C7267-1A05-42C7-BE1D-BBAC2C2DF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34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52E7A6D-4623-4FD4-9A95-B7DCE63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57850"/>
            <a:ext cx="9067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F172A"/>
                </a:solidFill>
              </a:defRPr>
            </a:pPr>
            <a:r>
              <a:rPr sz="1500" b="0">
                <a:solidFill>
                  <a:srgbClr val="0F172A"/>
                </a:solidFill>
              </a:rPr>
              <a:t>Fiyatlama kullanım bazlı ve kurumun donanım işletme yükünü azaltmaya odaklı.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FE6F64-7330-4EFA-8350-D1A5F20D6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3</a:t>
            </a:r>
          </a:p>
        </p:txBody>
      </p:sp>
    </p:spTree>
    <p:extLst>
      <p:ext uri="{BB962C8B-B14F-4D97-AF65-F5344CB8AC3E}">
        <p14:creationId xmlns:p14="http://schemas.microsoft.com/office/powerpoint/2010/main" val="442241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CF19E-906F-4A51-A004-85C7F84D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5E7FA-F57D-40E9-9C63-A8F93E0B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RAI PACS mevcut mimari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3B4AB-A41A-46AB-9F70-A0FFD9D23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FAB38-E967-4E01-8C0A-45A377600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7451B8-58E5-4D7C-8ACC-4F1500F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581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US / MR / CT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DICOM C-STORE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6569DE-351D-4724-BEBA-F5873C62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176284F-01F5-472F-9D31-A686B7FB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43150"/>
            <a:ext cx="1962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Google Cloud VM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Orthanc gateway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A6835E-E452-4083-B8BD-84418E0C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171700"/>
            <a:ext cx="2190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C8143C-4ECE-42B1-BAD2-82D1B15F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1962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Import worker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metadata + storage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5F911E-F228-4BE6-B9C3-FC56F1A1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095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02AFBC-1431-423E-B64F-20A3737C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343150"/>
            <a:ext cx="18669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Supabase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DB + Storage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490278-B330-45AD-BA8B-25BD4961F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800350"/>
            <a:ext cx="6286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5AA43-763B-4DC6-AEFE-34B51941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8003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E6FE94-4318-4B08-B682-24E185F13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66675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D1A933-7CFB-46A6-82D8-36F8FFDC4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8946CB-1C77-48EC-A4AD-F755B105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0A6430-57F0-4C98-B528-098B19C41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62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Uygulama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CB546-DCFD-491B-8DB1-1FF8B75D5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434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Vercel üzerinde app.raipacs.com; worklist, hasta, upload, viewer ve admin ekranları.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F7FCFB-9FD8-40E8-9AD5-892AF0C67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A2EA18-9970-4F70-9E24-F36C201A9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191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113E4D-C504-4E6D-8077-488C5AE1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362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Viewer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FFA18-5306-4213-B98A-7A50537E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7434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RAI Viewer ana deneyim; OHIF yeni sekmede opsiyonel ileri görüntüleme.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635BF2-1261-4940-AE8C-7E201379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31432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36125-FBEE-4490-A9DB-772014145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19100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5B7D9D-D3CF-46E2-8729-0470F398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36245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DICOM Server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DD5B02-681C-49F8-945B-BCB8A8CB9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43450"/>
            <a:ext cx="2724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dicom.raipacs.com:4242, AE Title RAIPACS, Admin panelde servis durumu.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AAA4F17-DB7E-40A0-9CFD-073439901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4</a:t>
            </a:r>
          </a:p>
        </p:txBody>
      </p:sp>
    </p:spTree>
    <p:extLst>
      <p:ext uri="{BB962C8B-B14F-4D97-AF65-F5344CB8AC3E}">
        <p14:creationId xmlns:p14="http://schemas.microsoft.com/office/powerpoint/2010/main" val="19208529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D71A38-E0AF-4098-99B6-D55E15E0A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747D84-4CAB-4984-9A45-FCFD0F2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Karşılaştırma matrisi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66DA3B-BB8F-4ADB-A7CA-064F1D80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5555AD-E941-4EF0-9F3B-2A2FEAAC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954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1BF4D-E8DE-42BF-9815-6EFB6504C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Alan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074850-A3FC-439C-B5FB-B6CF1F5D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1695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BF061D-FCB8-40B6-AE10-D8490489C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809750"/>
            <a:ext cx="2724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Sectra One Cloud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ACCD1-3019-4CB2-97CE-340C0D2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6954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72709F-10AA-48D8-BEAA-2D782401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809750"/>
            <a:ext cx="2628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RAI bugün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3EFE7A-2D2C-4886-B30B-1C9586D8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6954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6C3FB-4846-4826-BDFE-4A16A388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809750"/>
            <a:ext cx="2914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RAI hedefi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68F0AA-37C7-439E-9F8C-D7E9F4F6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9C6902-5DC6-4AD2-9F15-A29CFD7B8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Depolama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183767-0488-40F6-B465-79D4BB4F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209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AA38A0-842B-4896-9D5A-F93220AEE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955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Hibrit STS/LTS + Azure blob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BC153A-819F-442D-8DE3-DBE0CDD3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2098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AB5D76-3FF0-401F-A722-BF11FBB9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2955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Supabase Storage tek ana depo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694CFF-4FC3-417F-93A3-39DB84D99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817577-4F71-414E-B108-AE7C00BC2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955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Sıcak/soğuk katman + yaşam döngüsü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96E73B-3A72-4DF7-97D5-86B3761BB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0953FC-5B89-4F29-9BA7-F55118C3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987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DICOM alma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2C52E-CEE4-4CA5-9343-4671E1EB8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724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1E5F3F-D0B8-4133-820E-E34AE771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8098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Kurumsal modalite akışı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FC4937-CBC8-4742-936B-1B92E61E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241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4F482F-C170-4410-8EDD-7A3D07C2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098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Orthanc gateway canlı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7E8CB-FEBA-4A09-9D21-5841DFAD3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7241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A9E0B9-FB7B-4C97-966F-B7003034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098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Modalite registry + C-ECHO + retry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EEC4F5-65FA-492C-A34D-84E4E8E5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385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33D5E3-0097-4147-96E6-D36196EA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Viewer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2B5E54-634E-457A-A98B-7E2F1486B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38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30E569-1013-40C6-AF03-CC68EA328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3242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Olgun klinik viewer ekosistemi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6596A8-046E-411D-9E6D-8D335CEE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D078265-44D4-4ACE-B1D8-5C26D0F72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242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RAI Viewer + OHIF opsiyon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BDF428-95EF-4875-ADC8-64C9D2486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385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C22C1F6-343C-40EF-895B-1530F0F6B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242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OHIF benzeri performans ve UX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9290DE-10A4-4472-A10A-833AE4F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528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0890C3F-C100-4639-A9C4-CB828484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Operasyon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6B5CFBE-4A52-4036-8A01-581F49888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752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E7D124-A8BF-4A80-80F9-0A79343D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8385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Yönetilen servis ve geçiş desteği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8769742-DCF8-45C5-A858-ABDCB2FC0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528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8A61CCE-4EDF-435F-9B3F-7C13941F3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8385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Admin durum paneli başladı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8DD378-8F8C-438D-9A07-0CC3BF1A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528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7BE1A9E-170B-4C82-97D0-4F86984F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385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SLA, alarm, runbook, audit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F259CEA-B28B-4981-A07F-FF1D1D40F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2672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5470B8F-DBC3-4D33-A223-5C260313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5292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Maliyet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C803636-3D97-4AC9-96C7-21976965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67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A6DE705-A2F0-4B14-9C38-E6214A20C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35292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Kullanım bazlı bulut arşiv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4EAAB34-9530-430F-8F1C-CB3D55B12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EC6F2F8-ADAD-4C55-8A2A-B5CA4CC3F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5292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MVP maliyet kontrollü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0686647-AF70-4DA6-A786-7115AB9B9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6720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1B9DC1-0EFE-41DC-B8E2-FDFF94166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5292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Storage policy + arşiv maliyet modeli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93CF9E-B3FE-4077-8D6E-76E9396BC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81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7672E31-17A0-4A0E-9004-C3F5010C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581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AI hazırlığı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5DE4FC3-98DD-489F-A0CB-0D691E093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815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477CD0A-5480-47D6-BA1F-584AEDEF4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67275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Enterprise workflow’a entegre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B651C44-FCBB-42E6-90B3-E9F9A417B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81550"/>
            <a:ext cx="2857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2B54961-C8C4-4AB7-89AD-9D582506E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867275"/>
            <a:ext cx="2628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Planlanıyor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2E1A671-6EAB-4A79-894F-9EB0F11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781550"/>
            <a:ext cx="3143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46B6BD6-639B-4E98-A91A-1CF997E9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867275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AI job kuyruğu + rapor/veri modeli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2469EC8-4073-4057-A4FA-9E093EBA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5</a:t>
            </a:r>
          </a:p>
        </p:txBody>
      </p:sp>
    </p:spTree>
    <p:extLst>
      <p:ext uri="{BB962C8B-B14F-4D97-AF65-F5344CB8AC3E}">
        <p14:creationId xmlns:p14="http://schemas.microsoft.com/office/powerpoint/2010/main" val="107215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BAB039-CF54-4166-B026-B26B5E4BF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F74E92-452E-4555-A24C-E7A3982C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RAI’nin güçleri ve riskleri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E52576-2E72-49CE-97D7-4F2A03DD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6D430-E1EC-4639-BBFA-DBA1BB319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159BD5-BD7E-4A84-8B0B-808C2ABB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solidFill>
              <a:srgbClr val="16A34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697E0D-753C-4B7A-8BC1-D89ED39E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9812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Güçlü taraflar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DE2122-AD0D-4A4A-950B-70F2E4C0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5339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Ürün çok hızlı evriliyor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DICOM Storage zorunluluğu doğru çözüldü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Orthanc ile gerçek cihaz entegrasyon kapısı var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Admin, privacy, rol ve viewer katmanı başladı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Web/mobile/macOS hedefi için doğru teknoloji seçimi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C6E62-EE82-46C8-A14D-DFCEE25FF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495300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3AC90C-AD4C-49D1-B5FF-EF13F9A1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809750"/>
            <a:ext cx="7620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D494C-3B8A-4206-9793-9DC8A1450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981200"/>
            <a:ext cx="453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Olgunlaştırılması gerekenler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A7ADEE-9894-4ECE-847C-8AF3E7E43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45339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Arşiv yaşam döngüsü henüz yok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Import süreci job/queue modeliyle güçlenmeli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Kaynak AE, cihaz ve kurum bazlı izlenebilirlik artmalı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DR/backup ve güvenlik politikaları yazılı hale gelmeli</a:t>
            </a:r>
          </a:p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• Viewer performansı büyük MR/CT serilerde ölçülmeli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19721F-5E7B-4607-8118-9B0572D06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6</a:t>
            </a:r>
          </a:p>
        </p:txBody>
      </p:sp>
    </p:spTree>
    <p:extLst>
      <p:ext uri="{BB962C8B-B14F-4D97-AF65-F5344CB8AC3E}">
        <p14:creationId xmlns:p14="http://schemas.microsoft.com/office/powerpoint/2010/main" val="16521229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784BD9-6113-45B4-B3D4-EFB8A63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64FCCC-A656-4641-9B68-235AADFB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Önerilen RAI hedef mimarisi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CF00E-CA1E-4FBE-B88E-9E0E52110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A1E599-2351-4ECC-95BF-D7D3443B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00300"/>
            <a:ext cx="13335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8CEE0C-8CCC-4FD4-8C64-F7DBE1872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1104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Modalite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7348CC-7908-436D-AA7F-450934C9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7170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6E8B70-599C-4757-B198-1B1009FA9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431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DICOM Gateway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Orthanc + allowlist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C2C679-0401-4863-B2FB-6AC06FCC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71700"/>
            <a:ext cx="20955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373F39-2456-4EC6-B6FA-00CC82519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43150"/>
            <a:ext cx="18669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Import Queue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retry + audit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0AC639-032B-4787-9631-D25141DC9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0975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311E4B-84E9-4BC0-9C2C-0F59EA8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8120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Hot Storage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Supabase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9E6677-137E-4C21-A561-6F9353628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48000"/>
            <a:ext cx="180975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64AAC5-0C35-4D09-8292-EEC68169B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19450"/>
            <a:ext cx="1581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Archive Storage</a:t>
            </a:r>
          </a:p>
          <a:p xmlns:a="http://schemas.openxmlformats.org/drawingml/2006/main">
            <a:pPr algn="ctr">
              <a:defRPr sz="1350" b="1">
                <a:solidFill>
                  <a:srgbClr val="0F172A"/>
                </a:solidFill>
              </a:defRPr>
            </a:pPr>
            <a:r>
              <a:rPr sz="1350" b="1">
                <a:solidFill>
                  <a:srgbClr val="0F172A"/>
                </a:solidFill>
              </a:rPr>
              <a:t>S3/Azure/GCS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7B62CB-65CA-42F3-A6E5-87F718D33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19350"/>
            <a:ext cx="15240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0F766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5E894D-9F96-45B9-94EA-BC21BEFE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590800"/>
            <a:ext cx="1295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RAI App</a:t>
            </a:r>
          </a:p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Viewer + Admin + 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BB45F2-73CE-4BE4-9DE3-760EF74FE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743200"/>
            <a:ext cx="4953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08D5C3-4FF6-4A93-894B-33EA72F3D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4320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0E8E80-DE13-46FB-8DE4-55E2B4A01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514600"/>
            <a:ext cx="571500" cy="-2667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B1571C-74BA-4461-86B3-E16A8CF1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971800"/>
            <a:ext cx="571500" cy="4953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F8FC1F-DC8A-41CD-AB23-8D6BF920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47900"/>
            <a:ext cx="571500" cy="4762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9A4FEDE-DC2D-4961-AB06-3E42ACE81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467100"/>
            <a:ext cx="571500" cy="-53340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F766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C92703-E198-4201-B068-6FD17652A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F172A"/>
                </a:solidFill>
              </a:defRPr>
            </a:pPr>
            <a:r>
              <a:rPr sz="1800" b="1">
                <a:solidFill>
                  <a:srgbClr val="0F172A"/>
                </a:solidFill>
              </a:rPr>
              <a:t>Prensip: klinik açılış hızı için sıcak depo, maliyet/ölçek için arşiv depo, güven için iş kuyruğu ve audit.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4F84BD-A1D2-4E2E-9B2B-4DFEBF81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7</a:t>
            </a:r>
          </a:p>
        </p:txBody>
      </p:sp>
    </p:spTree>
    <p:extLst>
      <p:ext uri="{BB962C8B-B14F-4D97-AF65-F5344CB8AC3E}">
        <p14:creationId xmlns:p14="http://schemas.microsoft.com/office/powerpoint/2010/main" val="113149473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2C1DFA-501E-423D-82BD-BC4CB75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766E"/>
                </a:solidFill>
              </a:defRPr>
            </a:pPr>
            <a:r>
              <a:rPr sz="1050" b="1">
                <a:solidFill>
                  <a:srgbClr val="0F766E"/>
                </a:solidFill>
              </a:rPr>
              <a:t>RAI PACS MIMARI NOTU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FF8237-2B1E-4F78-B776-8C50443D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90 günlük uygulama planı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19337F-6B21-490C-AD70-314CE39E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A285F-7EBE-42FD-934C-DC0550CFC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4FF2B1-C1B5-4025-80D9-F06CEB8B7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09750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Faz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6CFE9C-319E-4AA5-83FA-609AB01D0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6954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D3B309-5CEB-4BE3-8839-319A1F3C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809750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Hedef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F86183-0417-4806-A123-00CF2EFD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6954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18FE98-024F-4174-88E9-4D2FD3C7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809750"/>
            <a:ext cx="5105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Somut çıktı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496EC-5F1A-47AD-BBC5-2E4EC0BCB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384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144C1A-FE79-4BAE-97DF-4C849E8B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2412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0-30 gün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2927B0-FF4B-4279-B3FE-8754E2CA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384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B91956-1494-4F86-8789-E369E94A8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524125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DICOM operasyon güveni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50FF65-7058-4CCC-84B6-2121AC57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4384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D12F51-8227-486E-9844-2744AB42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Import job tablosu, retry, modalite registry, C-ECHO durumu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499F74-99EB-47CA-9FDF-0987772D2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778ED-5F94-45A8-AFED-0B95A7B9F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6707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31-60 gün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5C3A6F-0AC2-4C8D-B446-B2D8F90C0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1813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53AEB18-0733-4558-8522-9647431D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267075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Viewer olgunluğu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90D7C7-EDAB-46B4-B1A9-1DD526416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1813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0F8B54-820A-40B1-9A6C-7C5E5D10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67075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Seri cache, prefetch, ölçüm araçları, layout ve klavye kısayolları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F7F913-B16B-467C-9702-84C85DC0B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2430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1C80B3-2348-4DA5-BBFF-D5C1888B7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1002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61-90 gün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F2A70-AE9C-4EDA-86B7-25399D3A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92430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81108C-1F65-41E9-9366-E2E45D7C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010025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Arşiv ve paylaşım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AD3ED9-59B3-4510-8450-9B95747E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92430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808023E-30DB-4BEA-BB9D-34494B36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010025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Hot/archive policy, link paylaşımı, export, audit log, backup runbook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938110-53B3-4605-9A36-54E8FA8A6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619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64FF88-4A5D-4446-8D62-846C9C4C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52975"/>
            <a:ext cx="13906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0F172A"/>
                </a:solidFill>
              </a:defRPr>
            </a:pPr>
            <a:r>
              <a:rPr sz="1050" b="1">
                <a:solidFill>
                  <a:srgbClr val="0F172A"/>
                </a:solidFill>
              </a:rPr>
              <a:t>Paralel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75D78D3-56AA-4A1B-A09C-E7979A8F4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667250"/>
            <a:ext cx="37147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6DB469-1844-453B-A13B-4DC983C6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4752975"/>
            <a:ext cx="3486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AI hazırlığı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A255E2-98B4-44B7-B940-54BBAD78D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67250"/>
            <a:ext cx="5334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592223-3AB9-4466-9795-8A8A5D6C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52975"/>
            <a:ext cx="5105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4748B"/>
                </a:solidFill>
              </a:defRPr>
            </a:pPr>
            <a:r>
              <a:rPr sz="1050" b="0">
                <a:solidFill>
                  <a:srgbClr val="64748B"/>
                </a:solidFill>
              </a:rPr>
              <a:t>AI job modeli, DICOM metadata normalizasyonu, rapor taslak alanları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18527EA-B50F-479D-8BA8-5CE7D1BD9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4748B"/>
                </a:solidFill>
              </a:defRPr>
            </a:pPr>
            <a:r>
              <a:rPr sz="900" b="0">
                <a:solidFill>
                  <a:srgbClr val="64748B"/>
                </a:solidFill>
              </a:rPr>
              <a:t>RAI PACS | Sectra One Cloud karşılaştırması | 8</a:t>
            </a:r>
          </a:p>
        </p:txBody>
      </p:sp>
    </p:spTree>
    <p:extLst>
      <p:ext uri="{BB962C8B-B14F-4D97-AF65-F5344CB8AC3E}">
        <p14:creationId xmlns:p14="http://schemas.microsoft.com/office/powerpoint/2010/main" val="2014260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B76C16-8E20-404F-A76E-A04929A48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Sıradaki en mantıklı adım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9EEB8B-8E94-40D6-968A-C76E5BE0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429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BD5E1"/>
                </a:solidFill>
              </a:defRPr>
            </a:pPr>
            <a:r>
              <a:rPr sz="2025" b="0">
                <a:solidFill>
                  <a:srgbClr val="CBD5E1"/>
                </a:solidFill>
              </a:rPr>
              <a:t>RAI PACS’i “DICOM dosyası alan web uygulaması” seviyesinden “cihazdan gelen klinik akışı yöneten PACS platformu” seviyesine taşımak.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D897F-2BFC-43F4-BED7-E28887E2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3143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4EF351-CDBE-4269-8BBE-3F9FB6829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 w="0">
            <a:solidFill>
              <a:srgbClr val="14B8A6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F8490F-CCAD-4865-B238-F266C2E9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1EE9D-43CF-452A-9B4A-AC665EE7F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Import job + modalite registry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9BBFB8-2481-4DA5-8E47-32DB12C4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28950"/>
            <a:ext cx="3143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19234A-2B7E-42E1-B158-AE4373B0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289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9DA495-2C07-402B-9809-D9FDF409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04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AB19FE-3ED9-4496-AFC1-F05F37C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5814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Viewer performans ve seri deneyimi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E082C0-7EEC-4123-8AFB-14043B118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31432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B23ED4-1934-45EB-9434-BE26FD41A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762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2B66F8-AA7F-4F72-BDFE-C3D50565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200400"/>
            <a:ext cx="2724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2E0BF0-8EC0-4629-9E16-ADC4641FF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81400"/>
            <a:ext cx="27241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4748B"/>
                </a:solidFill>
              </a:defRPr>
            </a:pPr>
            <a:r>
              <a:rPr sz="1275" b="0">
                <a:solidFill>
                  <a:srgbClr val="64748B"/>
                </a:solidFill>
              </a:rPr>
              <a:t>Sıcak/arşiv storage politikası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B32AED7-61FE-4AFE-8B47-ABA8C9907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76950"/>
            <a:ext cx="876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94A3B8"/>
                </a:solidFill>
              </a:defRPr>
            </a:pPr>
            <a:r>
              <a:rPr sz="1125" b="0">
                <a:solidFill>
                  <a:srgbClr val="94A3B8"/>
                </a:solidFill>
              </a:rPr>
              <a:t>Kaynak: Sectra One Cloud Storage sayfası ve mevcut RAI PACS kurulum notları.</a:t>
            </a:r>
          </a:p>
        </p:txBody>
      </p:sp>
    </p:spTree>
    <p:extLst>
      <p:ext uri="{BB962C8B-B14F-4D97-AF65-F5344CB8AC3E}">
        <p14:creationId xmlns:p14="http://schemas.microsoft.com/office/powerpoint/2010/main" val="927521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2026-06-23T14:28:53.8390000Z</dcterms:created>
  <dcterms:modified xsi:type="dcterms:W3CDTF">2026-06-23T14:28:53.8390000Z</dcterms:modified>
</coreProperties>
</file>